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 id="260"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54"/>
    <p:restoredTop sz="94660"/>
  </p:normalViewPr>
  <p:slideViewPr>
    <p:cSldViewPr snapToGrid="0">
      <p:cViewPr varScale="1">
        <p:scale>
          <a:sx n="59" d="100"/>
          <a:sy n="59" d="100"/>
        </p:scale>
        <p:origin x="6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FA849-657D-8857-1909-78542897CE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5A1C93-AF01-AF2B-B7EF-A3F5D2DAC0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8F2ED1-5C44-348C-E4AA-2BC9239418C8}"/>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5" name="Footer Placeholder 4">
            <a:extLst>
              <a:ext uri="{FF2B5EF4-FFF2-40B4-BE49-F238E27FC236}">
                <a16:creationId xmlns:a16="http://schemas.microsoft.com/office/drawing/2014/main" id="{E16BA140-AEAB-97F5-096D-E00FEF866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79FCB-F3D3-351F-FDB4-E5ACEE232237}"/>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3561092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89C05-4AAC-A9D9-63E2-F33DFC8484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C4AAF6-A9E6-98C8-E377-CC44E81170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F20B4D-8EA1-3CE3-A5ED-BB455E09311B}"/>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5" name="Footer Placeholder 4">
            <a:extLst>
              <a:ext uri="{FF2B5EF4-FFF2-40B4-BE49-F238E27FC236}">
                <a16:creationId xmlns:a16="http://schemas.microsoft.com/office/drawing/2014/main" id="{84D736B5-C0A0-7E11-7948-F8BF30E6C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F4131D-4089-2CC1-151C-E5DDEDCD0D17}"/>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3643570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57DB-4D9A-169C-C866-7BF2689028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9C7EEA-08C0-C5F1-809B-12ED01FAD1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CFCCD3-FC8D-1068-0B05-D682BC362E5A}"/>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5" name="Footer Placeholder 4">
            <a:extLst>
              <a:ext uri="{FF2B5EF4-FFF2-40B4-BE49-F238E27FC236}">
                <a16:creationId xmlns:a16="http://schemas.microsoft.com/office/drawing/2014/main" id="{5866DAE3-AB16-AA81-1DC5-0A2D8E3E18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4C086B-76C1-58A7-4DC1-BDA2EC34BC1F}"/>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2958478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FC5E-9C8B-E741-6D30-3B263D531C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4D1FA5-13C3-3CB1-E7BE-48DF3F0E58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DAD568-0D0A-A2FA-6C0E-FE9C402704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69C3BC-56E9-1A09-08DA-7F5EC63661FA}"/>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6" name="Footer Placeholder 5">
            <a:extLst>
              <a:ext uri="{FF2B5EF4-FFF2-40B4-BE49-F238E27FC236}">
                <a16:creationId xmlns:a16="http://schemas.microsoft.com/office/drawing/2014/main" id="{3DEC1AD5-6B2A-5F7C-90CB-C6C8E11A9A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C5A393-8796-2E0F-A7BD-C32E62F5D7B7}"/>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2749191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1B70-AB5C-BB6F-3C4B-DFCFDDF37A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F8F2E1-F756-CBEE-E205-2314806898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5A9E68-A52E-1DB0-0479-0ACF1049AC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407DB7-F4F0-9976-0290-2532176E5C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AF2A16-882B-68FE-F061-DF0EBAF2DA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CE486B-FEB9-EB1D-5BE9-DBDBF1C5A270}"/>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8" name="Footer Placeholder 7">
            <a:extLst>
              <a:ext uri="{FF2B5EF4-FFF2-40B4-BE49-F238E27FC236}">
                <a16:creationId xmlns:a16="http://schemas.microsoft.com/office/drawing/2014/main" id="{3A169DAF-76C1-B56F-96F7-347B5224BA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E91658-9087-81E1-02E5-666A0EC05962}"/>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171906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14CA7-E58F-BC45-E130-FAE059FC54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209049-9E21-C951-F1D8-81A34BA75E1F}"/>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4" name="Footer Placeholder 3">
            <a:extLst>
              <a:ext uri="{FF2B5EF4-FFF2-40B4-BE49-F238E27FC236}">
                <a16:creationId xmlns:a16="http://schemas.microsoft.com/office/drawing/2014/main" id="{AD4E7CB8-4509-7B5D-B1F1-F03049777A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9C9288-ECD3-6248-06AB-BF2018389BE8}"/>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550643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2C01CB-E989-152D-A4F9-417EFCCB03B7}"/>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3" name="Footer Placeholder 2">
            <a:extLst>
              <a:ext uri="{FF2B5EF4-FFF2-40B4-BE49-F238E27FC236}">
                <a16:creationId xmlns:a16="http://schemas.microsoft.com/office/drawing/2014/main" id="{3E5511B5-8C84-69B7-697D-4A8F03778E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AFEF9F-0742-F2F5-0CBB-C3A0D4A779E5}"/>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3667975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90F7-5C2B-4B11-A14D-D4668797E3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83BDFE-B7E1-A32D-BE57-EBF50E9D5A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8801A7-6E38-F25D-5499-F629A5D063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88D71-33D1-74ED-3EFD-B200E2019B67}"/>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6" name="Footer Placeholder 5">
            <a:extLst>
              <a:ext uri="{FF2B5EF4-FFF2-40B4-BE49-F238E27FC236}">
                <a16:creationId xmlns:a16="http://schemas.microsoft.com/office/drawing/2014/main" id="{6129B13C-84D3-5690-F822-9CEB098D72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49686E-EB2E-D5AB-736A-20B3ACAAA16D}"/>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3712927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25639-4E0B-B719-3396-1BB5AE465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09F971-F387-FA62-0934-C10CB03339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E6ADB3-B169-ECFC-A324-1A93B4EC5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1CB99C-F394-A9F9-74D8-3077216ECD7A}"/>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6" name="Footer Placeholder 5">
            <a:extLst>
              <a:ext uri="{FF2B5EF4-FFF2-40B4-BE49-F238E27FC236}">
                <a16:creationId xmlns:a16="http://schemas.microsoft.com/office/drawing/2014/main" id="{BADE46DA-1BEE-A0DB-8635-1EA571C349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70BE6-792C-654F-0885-82CD479151F6}"/>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485956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E38F-8896-620F-0A62-714E86E32E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3C5166-02B3-997B-6AA7-642A2A110D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A19F2-696D-D2F8-164D-75BD30CAC6BE}"/>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5" name="Footer Placeholder 4">
            <a:extLst>
              <a:ext uri="{FF2B5EF4-FFF2-40B4-BE49-F238E27FC236}">
                <a16:creationId xmlns:a16="http://schemas.microsoft.com/office/drawing/2014/main" id="{8BEB5E9E-C6D7-EC2D-C3B8-AF2DC4CD1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757F68-E10C-411C-55A4-90673A7C4A59}"/>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735374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817F7C-1B10-3163-D0F8-5492D389A7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F8455D-7859-29E4-2835-C9275F2A01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769015-BFBE-F3CB-82F0-5FD74497750B}"/>
              </a:ext>
            </a:extLst>
          </p:cNvPr>
          <p:cNvSpPr>
            <a:spLocks noGrp="1"/>
          </p:cNvSpPr>
          <p:nvPr>
            <p:ph type="dt" sz="half" idx="10"/>
          </p:nvPr>
        </p:nvSpPr>
        <p:spPr/>
        <p:txBody>
          <a:bodyPr/>
          <a:lstStyle/>
          <a:p>
            <a:fld id="{A53BDE92-B6C1-B841-AFA7-BDBE3399A1A6}" type="datetimeFigureOut">
              <a:rPr lang="en-US" smtClean="0"/>
              <a:t>4/7/2026</a:t>
            </a:fld>
            <a:endParaRPr lang="en-US"/>
          </a:p>
        </p:txBody>
      </p:sp>
      <p:sp>
        <p:nvSpPr>
          <p:cNvPr id="5" name="Footer Placeholder 4">
            <a:extLst>
              <a:ext uri="{FF2B5EF4-FFF2-40B4-BE49-F238E27FC236}">
                <a16:creationId xmlns:a16="http://schemas.microsoft.com/office/drawing/2014/main" id="{C1069B1F-9C76-A76D-7698-96E86FFDC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22BB2F-5018-6246-00CA-CE375F48AEF7}"/>
              </a:ext>
            </a:extLst>
          </p:cNvPr>
          <p:cNvSpPr>
            <a:spLocks noGrp="1"/>
          </p:cNvSpPr>
          <p:nvPr>
            <p:ph type="sldNum" sz="quarter" idx="12"/>
          </p:nvPr>
        </p:nvSpPr>
        <p:spPr/>
        <p:txBody>
          <a:bodyPr/>
          <a:lstStyle/>
          <a:p>
            <a:fld id="{37BCDED7-BAD9-3048-8A5A-D4118EDC73E8}" type="slidenum">
              <a:rPr lang="en-US" smtClean="0"/>
              <a:t>‹#›</a:t>
            </a:fld>
            <a:endParaRPr lang="en-US"/>
          </a:p>
        </p:txBody>
      </p:sp>
    </p:spTree>
    <p:extLst>
      <p:ext uri="{BB962C8B-B14F-4D97-AF65-F5344CB8AC3E}">
        <p14:creationId xmlns:p14="http://schemas.microsoft.com/office/powerpoint/2010/main" val="1329490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AE70D6-08F0-3D26-DF71-ACC6F31B4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73886-8D36-69A3-811A-A657F5B974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2E76F9-BD97-42A7-D778-A572647172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3BDE92-B6C1-B841-AFA7-BDBE3399A1A6}" type="datetimeFigureOut">
              <a:rPr lang="en-US" smtClean="0"/>
              <a:t>4/7/2026</a:t>
            </a:fld>
            <a:endParaRPr lang="en-US"/>
          </a:p>
        </p:txBody>
      </p:sp>
      <p:sp>
        <p:nvSpPr>
          <p:cNvPr id="5" name="Footer Placeholder 4">
            <a:extLst>
              <a:ext uri="{FF2B5EF4-FFF2-40B4-BE49-F238E27FC236}">
                <a16:creationId xmlns:a16="http://schemas.microsoft.com/office/drawing/2014/main" id="{D88C8B95-7AD2-5241-B5CA-8F2CFCCCFF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FE50DF8-7D4F-C474-64D1-2E211672A6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BCDED7-BAD9-3048-8A5A-D4118EDC73E8}" type="slidenum">
              <a:rPr lang="en-US" smtClean="0"/>
              <a:t>‹#›</a:t>
            </a:fld>
            <a:endParaRPr lang="en-US"/>
          </a:p>
        </p:txBody>
      </p:sp>
    </p:spTree>
    <p:extLst>
      <p:ext uri="{BB962C8B-B14F-4D97-AF65-F5344CB8AC3E}">
        <p14:creationId xmlns:p14="http://schemas.microsoft.com/office/powerpoint/2010/main" val="2067296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090D-4F5C-160B-A1BD-811A2935F105}"/>
              </a:ext>
            </a:extLst>
          </p:cNvPr>
          <p:cNvSpPr>
            <a:spLocks noGrp="1"/>
          </p:cNvSpPr>
          <p:nvPr>
            <p:ph type="ctrTitle"/>
          </p:nvPr>
        </p:nvSpPr>
        <p:spPr/>
        <p:txBody>
          <a:bodyPr/>
          <a:lstStyle/>
          <a:p>
            <a:r>
              <a:rPr lang="en-US" dirty="0"/>
              <a:t>ECE 313 Spring 2026 Project</a:t>
            </a:r>
            <a:br>
              <a:rPr lang="en-US" dirty="0"/>
            </a:br>
            <a:r>
              <a:rPr lang="en-US" dirty="0"/>
              <a:t>Task 2</a:t>
            </a:r>
          </a:p>
        </p:txBody>
      </p:sp>
      <p:sp>
        <p:nvSpPr>
          <p:cNvPr id="3" name="Subtitle 2">
            <a:extLst>
              <a:ext uri="{FF2B5EF4-FFF2-40B4-BE49-F238E27FC236}">
                <a16:creationId xmlns:a16="http://schemas.microsoft.com/office/drawing/2014/main" id="{A9D6091A-A282-532A-5CB7-DB9E360D2F22}"/>
              </a:ext>
            </a:extLst>
          </p:cNvPr>
          <p:cNvSpPr>
            <a:spLocks noGrp="1"/>
          </p:cNvSpPr>
          <p:nvPr>
            <p:ph type="subTitle" idx="1"/>
          </p:nvPr>
        </p:nvSpPr>
        <p:spPr/>
        <p:txBody>
          <a:bodyPr/>
          <a:lstStyle/>
          <a:p>
            <a:r>
              <a:rPr lang="en-US" dirty="0"/>
              <a:t>&lt;Team1&gt;</a:t>
            </a:r>
          </a:p>
          <a:p>
            <a:r>
              <a:rPr lang="en-US" dirty="0"/>
              <a:t>&lt;NetID 1, NetID 2, NetID 3&gt;</a:t>
            </a:r>
          </a:p>
          <a:p>
            <a:r>
              <a:rPr lang="en-US" dirty="0"/>
              <a:t>&lt;Name 1, Name 2, Name 3&gt;</a:t>
            </a:r>
          </a:p>
        </p:txBody>
      </p:sp>
    </p:spTree>
    <p:extLst>
      <p:ext uri="{BB962C8B-B14F-4D97-AF65-F5344CB8AC3E}">
        <p14:creationId xmlns:p14="http://schemas.microsoft.com/office/powerpoint/2010/main" val="3133157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B128C-C253-A009-EF9B-6B9F0142A68A}"/>
              </a:ext>
            </a:extLst>
          </p:cNvPr>
          <p:cNvSpPr>
            <a:spLocks noGrp="1"/>
          </p:cNvSpPr>
          <p:nvPr>
            <p:ph type="title"/>
          </p:nvPr>
        </p:nvSpPr>
        <p:spPr/>
        <p:txBody>
          <a:bodyPr/>
          <a:lstStyle/>
          <a:p>
            <a:r>
              <a:rPr lang="en-US" dirty="0"/>
              <a:t>Task 2</a:t>
            </a:r>
          </a:p>
        </p:txBody>
      </p:sp>
      <p:sp>
        <p:nvSpPr>
          <p:cNvPr id="3" name="Content Placeholder 2">
            <a:extLst>
              <a:ext uri="{FF2B5EF4-FFF2-40B4-BE49-F238E27FC236}">
                <a16:creationId xmlns:a16="http://schemas.microsoft.com/office/drawing/2014/main" id="{EB4464E1-5C47-5A33-063B-160B7C884A65}"/>
              </a:ext>
            </a:extLst>
          </p:cNvPr>
          <p:cNvSpPr>
            <a:spLocks noGrp="1"/>
          </p:cNvSpPr>
          <p:nvPr>
            <p:ph idx="1"/>
          </p:nvPr>
        </p:nvSpPr>
        <p:spPr>
          <a:xfrm>
            <a:off x="838200" y="1371599"/>
            <a:ext cx="10515600" cy="5236029"/>
          </a:xfrm>
        </p:spPr>
        <p:txBody>
          <a:bodyPr>
            <a:normAutofit fontScale="92500" lnSpcReduction="10000"/>
          </a:bodyPr>
          <a:lstStyle/>
          <a:p>
            <a:r>
              <a:rPr lang="en-US" dirty="0"/>
              <a:t>Q1: Restate the distribution name and its parameters? One of the TAs found that the exponential distribution is a good fit. Does your answer agree with the TA's? If not, please explain.</a:t>
            </a:r>
          </a:p>
          <a:p>
            <a:pPr marL="0" indent="0">
              <a:buNone/>
            </a:pPr>
            <a:r>
              <a:rPr lang="en-US" dirty="0"/>
              <a:t>	Exponential, </a:t>
            </a:r>
          </a:p>
          <a:p>
            <a:pPr marL="0" indent="0">
              <a:buNone/>
            </a:pPr>
            <a:r>
              <a:rPr lang="en-US" dirty="0"/>
              <a:t>	location = 0.011411905288696289,</a:t>
            </a:r>
          </a:p>
          <a:p>
            <a:pPr marL="0" indent="0">
              <a:buNone/>
            </a:pPr>
            <a:r>
              <a:rPr lang="en-US" dirty="0"/>
              <a:t>	 scale = 1054.4761089655117,</a:t>
            </a:r>
          </a:p>
          <a:p>
            <a:pPr marL="0" indent="0">
              <a:buNone/>
            </a:pPr>
            <a:r>
              <a:rPr lang="en-US" dirty="0"/>
              <a:t>	lambda = 0.0009483382235952645 failures/second</a:t>
            </a:r>
          </a:p>
          <a:p>
            <a:pPr marL="0" indent="0">
              <a:buNone/>
            </a:pPr>
            <a:r>
              <a:rPr lang="en-US" dirty="0"/>
              <a:t>	Yes our answer is Exponential, agreeing with the TAs</a:t>
            </a:r>
          </a:p>
          <a:p>
            <a:r>
              <a:rPr lang="en-US" dirty="0"/>
              <a:t>Q2: (Skip if you answer Yes for Q1). Assuming interarrival time of XID are exponentially distributed, use Scipy Python Library to estimate the parameters and report them here.</a:t>
            </a:r>
          </a:p>
          <a:p>
            <a:pPr marL="0" indent="0">
              <a:buNone/>
            </a:pPr>
            <a:r>
              <a:rPr lang="en-US" dirty="0"/>
              <a:t>	Skipped</a:t>
            </a:r>
          </a:p>
          <a:p>
            <a:endParaRPr lang="en-US" dirty="0"/>
          </a:p>
          <a:p>
            <a:endParaRPr lang="en-US" dirty="0"/>
          </a:p>
        </p:txBody>
      </p:sp>
    </p:spTree>
    <p:extLst>
      <p:ext uri="{BB962C8B-B14F-4D97-AF65-F5344CB8AC3E}">
        <p14:creationId xmlns:p14="http://schemas.microsoft.com/office/powerpoint/2010/main" val="3452803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3FDEF-AE48-E0EF-3300-79BE1E498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844A2-B107-8F04-8EDE-688D1D964262}"/>
              </a:ext>
            </a:extLst>
          </p:cNvPr>
          <p:cNvSpPr>
            <a:spLocks noGrp="1"/>
          </p:cNvSpPr>
          <p:nvPr>
            <p:ph type="title"/>
          </p:nvPr>
        </p:nvSpPr>
        <p:spPr/>
        <p:txBody>
          <a:bodyPr/>
          <a:lstStyle/>
          <a:p>
            <a:r>
              <a:rPr lang="en-US" dirty="0"/>
              <a:t>Task 2</a:t>
            </a:r>
          </a:p>
        </p:txBody>
      </p:sp>
      <p:sp>
        <p:nvSpPr>
          <p:cNvPr id="3" name="Content Placeholder 2">
            <a:extLst>
              <a:ext uri="{FF2B5EF4-FFF2-40B4-BE49-F238E27FC236}">
                <a16:creationId xmlns:a16="http://schemas.microsoft.com/office/drawing/2014/main" id="{2FDB8E10-96A1-DBEE-8DCF-628D957AB1F3}"/>
              </a:ext>
            </a:extLst>
          </p:cNvPr>
          <p:cNvSpPr>
            <a:spLocks noGrp="1"/>
          </p:cNvSpPr>
          <p:nvPr>
            <p:ph idx="1"/>
          </p:nvPr>
        </p:nvSpPr>
        <p:spPr/>
        <p:txBody>
          <a:bodyPr/>
          <a:lstStyle/>
          <a:p>
            <a:r>
              <a:rPr lang="en-US" dirty="0"/>
              <a:t>Q3a: What is the MTBF in hours? </a:t>
            </a:r>
          </a:p>
          <a:p>
            <a:pPr marL="457200" lvl="1" indent="0">
              <a:buNone/>
            </a:pPr>
            <a:r>
              <a:rPr lang="en-US" sz="2800" dirty="0"/>
              <a:t>0.292909215787224 hours</a:t>
            </a:r>
          </a:p>
          <a:p>
            <a:endParaRPr lang="en-US" dirty="0"/>
          </a:p>
          <a:p>
            <a:endParaRPr lang="en-US" dirty="0"/>
          </a:p>
          <a:p>
            <a:r>
              <a:rPr lang="en-US" dirty="0"/>
              <a:t>Q3b: What is the MTBF in seconds and how did you convert MTBF in hours to seconds?</a:t>
            </a:r>
          </a:p>
          <a:p>
            <a:pPr marL="457200" lvl="1" indent="0">
              <a:buNone/>
            </a:pPr>
            <a:r>
              <a:rPr lang="en-US" sz="2800" dirty="0"/>
              <a:t>1054.4731768340064 seconds, we multiplied the MTBF in hours by (3600 seconds per hour)</a:t>
            </a:r>
          </a:p>
          <a:p>
            <a:pPr marL="457200" lvl="1" indent="0">
              <a:buNone/>
            </a:pPr>
            <a:endParaRPr lang="en-US" dirty="0"/>
          </a:p>
          <a:p>
            <a:endParaRPr lang="en-US" dirty="0"/>
          </a:p>
        </p:txBody>
      </p:sp>
    </p:spTree>
    <p:extLst>
      <p:ext uri="{BB962C8B-B14F-4D97-AF65-F5344CB8AC3E}">
        <p14:creationId xmlns:p14="http://schemas.microsoft.com/office/powerpoint/2010/main" val="1561161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31697-FFD7-C785-5399-0E3E7B36F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55496-51EA-E506-424C-6DEF19AA1FB8}"/>
              </a:ext>
            </a:extLst>
          </p:cNvPr>
          <p:cNvSpPr>
            <a:spLocks noGrp="1"/>
          </p:cNvSpPr>
          <p:nvPr>
            <p:ph type="title"/>
          </p:nvPr>
        </p:nvSpPr>
        <p:spPr>
          <a:xfrm>
            <a:off x="631371" y="0"/>
            <a:ext cx="10515600" cy="1325563"/>
          </a:xfrm>
        </p:spPr>
        <p:txBody>
          <a:bodyPr/>
          <a:lstStyle/>
          <a:p>
            <a:r>
              <a:rPr lang="en-US" dirty="0"/>
              <a:t>Task 2</a:t>
            </a:r>
          </a:p>
        </p:txBody>
      </p:sp>
      <p:sp>
        <p:nvSpPr>
          <p:cNvPr id="3" name="Content Placeholder 2">
            <a:extLst>
              <a:ext uri="{FF2B5EF4-FFF2-40B4-BE49-F238E27FC236}">
                <a16:creationId xmlns:a16="http://schemas.microsoft.com/office/drawing/2014/main" id="{50731468-0345-A3B6-9414-735667B81D93}"/>
              </a:ext>
            </a:extLst>
          </p:cNvPr>
          <p:cNvSpPr>
            <a:spLocks noGrp="1"/>
          </p:cNvSpPr>
          <p:nvPr>
            <p:ph idx="1"/>
          </p:nvPr>
        </p:nvSpPr>
        <p:spPr>
          <a:xfrm>
            <a:off x="239486" y="1045027"/>
            <a:ext cx="11734800" cy="5442857"/>
          </a:xfrm>
        </p:spPr>
        <p:txBody>
          <a:bodyPr>
            <a:normAutofit fontScale="92500" lnSpcReduction="10000"/>
          </a:bodyPr>
          <a:lstStyle/>
          <a:p>
            <a:r>
              <a:rPr lang="en-US" dirty="0"/>
              <a:t>Q4a: What does this comparison suggest about the relationship between the fitted parameter(s) and MTBF of the actual data?</a:t>
            </a:r>
          </a:p>
          <a:p>
            <a:pPr marL="0" indent="0">
              <a:buNone/>
            </a:pPr>
            <a:r>
              <a:rPr lang="en-US" dirty="0"/>
              <a:t>The two MTBFs are nearly identical, suggesting that the scale parameter (mean of the exponential distribution for interarrival times) is approximately equal to the MTBF of the actual data (empirical MTBF)</a:t>
            </a:r>
          </a:p>
          <a:p>
            <a:r>
              <a:rPr lang="en-US" dirty="0"/>
              <a:t>Q4b: Does the relationship you found in part (a) by itself establish that the exponential model is a good fit? Why or why not? If not, describe the additional evidence needed to conclude that the exponential model is appropriate</a:t>
            </a:r>
          </a:p>
          <a:p>
            <a:pPr marL="0" indent="0">
              <a:buNone/>
            </a:pPr>
            <a:r>
              <a:rPr lang="en-US" dirty="0"/>
              <a:t>The relationship found in part a shows that the averages of the distribution and actual data are consistent, NOT that the exponential model is a good fit. We also need to confirm the shapes of the distribution, and the actual data are consistent. We know the shapes are consistent from the KS goodness of fit test from Task 1 part 6. Since for the exponential distribution the p-value &gt; 0.05 and the KS statistic is the lowest, we know the shapes of the exponential distribution and the actual data match well.</a:t>
            </a:r>
          </a:p>
          <a:p>
            <a:endParaRPr lang="en-US" dirty="0"/>
          </a:p>
          <a:p>
            <a:endParaRPr lang="en-US" dirty="0"/>
          </a:p>
          <a:p>
            <a:endParaRPr lang="en-US" dirty="0"/>
          </a:p>
        </p:txBody>
      </p:sp>
    </p:spTree>
    <p:extLst>
      <p:ext uri="{BB962C8B-B14F-4D97-AF65-F5344CB8AC3E}">
        <p14:creationId xmlns:p14="http://schemas.microsoft.com/office/powerpoint/2010/main" val="2990290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BDF9C-607F-AD0F-B2C0-6EA25E8F0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1556F-9FF0-0058-5277-5027327BCAEA}"/>
              </a:ext>
            </a:extLst>
          </p:cNvPr>
          <p:cNvSpPr>
            <a:spLocks noGrp="1"/>
          </p:cNvSpPr>
          <p:nvPr>
            <p:ph type="title"/>
          </p:nvPr>
        </p:nvSpPr>
        <p:spPr/>
        <p:txBody>
          <a:bodyPr/>
          <a:lstStyle/>
          <a:p>
            <a:r>
              <a:rPr lang="en-US" dirty="0"/>
              <a:t>Task 2</a:t>
            </a:r>
          </a:p>
        </p:txBody>
      </p:sp>
      <p:sp>
        <p:nvSpPr>
          <p:cNvPr id="3" name="Content Placeholder 2">
            <a:extLst>
              <a:ext uri="{FF2B5EF4-FFF2-40B4-BE49-F238E27FC236}">
                <a16:creationId xmlns:a16="http://schemas.microsoft.com/office/drawing/2014/main" id="{EEF4FD4D-75F7-0A60-26C1-DA41728D530F}"/>
              </a:ext>
            </a:extLst>
          </p:cNvPr>
          <p:cNvSpPr>
            <a:spLocks noGrp="1"/>
          </p:cNvSpPr>
          <p:nvPr>
            <p:ph idx="1"/>
          </p:nvPr>
        </p:nvSpPr>
        <p:spPr/>
        <p:txBody>
          <a:bodyPr/>
          <a:lstStyle/>
          <a:p>
            <a:r>
              <a:rPr lang="en-US" dirty="0"/>
              <a:t>Q5a: How many unique inter-arrival time values are there?</a:t>
            </a:r>
          </a:p>
          <a:p>
            <a:pPr marL="0" indent="0">
              <a:buNone/>
            </a:pPr>
            <a:endParaRPr lang="en-US" dirty="0"/>
          </a:p>
          <a:p>
            <a:endParaRPr lang="en-US" dirty="0"/>
          </a:p>
          <a:p>
            <a:r>
              <a:rPr lang="en-US" dirty="0"/>
              <a:t>Q5b: What are the first ten values of your estimated </a:t>
            </a:r>
            <a:r>
              <a:rPr lang="en-US" dirty="0" err="1"/>
              <a:t>Ĥ</a:t>
            </a:r>
            <a:r>
              <a:rPr lang="en-US" dirty="0"/>
              <a:t>(𝑡)?</a:t>
            </a:r>
          </a:p>
          <a:p>
            <a:endParaRPr lang="en-US" dirty="0"/>
          </a:p>
          <a:p>
            <a:pPr marL="0" indent="0">
              <a:buNone/>
            </a:pPr>
            <a:endParaRPr lang="en-US" dirty="0"/>
          </a:p>
        </p:txBody>
      </p:sp>
    </p:spTree>
    <p:extLst>
      <p:ext uri="{BB962C8B-B14F-4D97-AF65-F5344CB8AC3E}">
        <p14:creationId xmlns:p14="http://schemas.microsoft.com/office/powerpoint/2010/main" val="2103940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7E107-9D14-292A-17ED-E4A5CBC9C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895ED-BA7A-C596-2FB7-F129ED464636}"/>
              </a:ext>
            </a:extLst>
          </p:cNvPr>
          <p:cNvSpPr>
            <a:spLocks noGrp="1"/>
          </p:cNvSpPr>
          <p:nvPr>
            <p:ph type="title"/>
          </p:nvPr>
        </p:nvSpPr>
        <p:spPr/>
        <p:txBody>
          <a:bodyPr/>
          <a:lstStyle/>
          <a:p>
            <a:r>
              <a:rPr lang="en-US" dirty="0"/>
              <a:t>Task 2</a:t>
            </a:r>
          </a:p>
        </p:txBody>
      </p:sp>
      <p:sp>
        <p:nvSpPr>
          <p:cNvPr id="3" name="Content Placeholder 2">
            <a:extLst>
              <a:ext uri="{FF2B5EF4-FFF2-40B4-BE49-F238E27FC236}">
                <a16:creationId xmlns:a16="http://schemas.microsoft.com/office/drawing/2014/main" id="{7691B65B-061D-E897-1FC2-6A50A91892F1}"/>
              </a:ext>
            </a:extLst>
          </p:cNvPr>
          <p:cNvSpPr>
            <a:spLocks noGrp="1"/>
          </p:cNvSpPr>
          <p:nvPr>
            <p:ph idx="1"/>
          </p:nvPr>
        </p:nvSpPr>
        <p:spPr/>
        <p:txBody>
          <a:bodyPr/>
          <a:lstStyle/>
          <a:p>
            <a:r>
              <a:rPr lang="en-US" dirty="0"/>
              <a:t>Q5c: Plot the estimated cumulative hazard function. What can You conclude?</a:t>
            </a:r>
          </a:p>
          <a:p>
            <a:endParaRPr lang="en-US" dirty="0"/>
          </a:p>
          <a:p>
            <a:endParaRPr lang="en-US" dirty="0"/>
          </a:p>
          <a:p>
            <a:r>
              <a:rPr lang="en-US" dirty="0"/>
              <a:t>Q5d: Is the system at the initial mortality, normal life, or wear-out period of its life?</a:t>
            </a:r>
          </a:p>
          <a:p>
            <a:endParaRPr lang="en-US" dirty="0"/>
          </a:p>
          <a:p>
            <a:endParaRPr lang="en-US" dirty="0"/>
          </a:p>
        </p:txBody>
      </p:sp>
    </p:spTree>
    <p:extLst>
      <p:ext uri="{BB962C8B-B14F-4D97-AF65-F5344CB8AC3E}">
        <p14:creationId xmlns:p14="http://schemas.microsoft.com/office/powerpoint/2010/main" val="3243018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378E6-9E19-1442-AC58-B0531485B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AD52D-D9CD-BA03-725B-ECB0315040C6}"/>
              </a:ext>
            </a:extLst>
          </p:cNvPr>
          <p:cNvSpPr>
            <a:spLocks noGrp="1"/>
          </p:cNvSpPr>
          <p:nvPr>
            <p:ph type="title"/>
          </p:nvPr>
        </p:nvSpPr>
        <p:spPr/>
        <p:txBody>
          <a:bodyPr/>
          <a:lstStyle/>
          <a:p>
            <a:r>
              <a:rPr lang="en-US" dirty="0"/>
              <a:t>Task 2</a:t>
            </a:r>
          </a:p>
        </p:txBody>
      </p:sp>
      <p:sp>
        <p:nvSpPr>
          <p:cNvPr id="3" name="Content Placeholder 2">
            <a:extLst>
              <a:ext uri="{FF2B5EF4-FFF2-40B4-BE49-F238E27FC236}">
                <a16:creationId xmlns:a16="http://schemas.microsoft.com/office/drawing/2014/main" id="{E3D98823-DF2B-A2C3-E19E-952DFA421889}"/>
              </a:ext>
            </a:extLst>
          </p:cNvPr>
          <p:cNvSpPr>
            <a:spLocks noGrp="1"/>
          </p:cNvSpPr>
          <p:nvPr>
            <p:ph idx="1"/>
          </p:nvPr>
        </p:nvSpPr>
        <p:spPr/>
        <p:txBody>
          <a:bodyPr/>
          <a:lstStyle/>
          <a:p>
            <a:r>
              <a:rPr lang="en-US" dirty="0"/>
              <a:t>Q5e: Estimate the average hazard rate from the cumulative hazard rate and report its value.</a:t>
            </a:r>
          </a:p>
          <a:p>
            <a:pPr marL="0" indent="0">
              <a:buNone/>
            </a:pPr>
            <a:endParaRPr lang="en-US" dirty="0"/>
          </a:p>
          <a:p>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324413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79E33-7B32-8935-1EB2-B26BC146C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F40B2-C76C-6210-1180-070D5270BF3F}"/>
              </a:ext>
            </a:extLst>
          </p:cNvPr>
          <p:cNvSpPr>
            <a:spLocks noGrp="1"/>
          </p:cNvSpPr>
          <p:nvPr>
            <p:ph type="title"/>
          </p:nvPr>
        </p:nvSpPr>
        <p:spPr/>
        <p:txBody>
          <a:bodyPr/>
          <a:lstStyle/>
          <a:p>
            <a:r>
              <a:rPr lang="en-US" dirty="0"/>
              <a:t>Task 2</a:t>
            </a:r>
          </a:p>
        </p:txBody>
      </p:sp>
      <p:sp>
        <p:nvSpPr>
          <p:cNvPr id="3" name="Content Placeholder 2">
            <a:extLst>
              <a:ext uri="{FF2B5EF4-FFF2-40B4-BE49-F238E27FC236}">
                <a16:creationId xmlns:a16="http://schemas.microsoft.com/office/drawing/2014/main" id="{6BD9CAEB-8A59-A5FA-E3E8-04405D468E5D}"/>
              </a:ext>
            </a:extLst>
          </p:cNvPr>
          <p:cNvSpPr>
            <a:spLocks noGrp="1"/>
          </p:cNvSpPr>
          <p:nvPr>
            <p:ph idx="1"/>
          </p:nvPr>
        </p:nvSpPr>
        <p:spPr/>
        <p:txBody>
          <a:bodyPr/>
          <a:lstStyle/>
          <a:p>
            <a:r>
              <a:rPr lang="en-US" dirty="0"/>
              <a:t>Q5f: Write down the theoretical cumulated hazard function and plot it on the same plot as Q5-c. </a:t>
            </a:r>
          </a:p>
          <a:p>
            <a:pPr marL="0" indent="0">
              <a:buNone/>
            </a:pPr>
            <a:endParaRPr lang="en-US" dirty="0"/>
          </a:p>
          <a:p>
            <a:r>
              <a:rPr lang="en-US" dirty="0"/>
              <a:t>Q5e: Compare the empirical hazard rate and cumulative hazard function with the theoretical ones. Are they consistent with each other? Why, or why not?</a:t>
            </a:r>
          </a:p>
          <a:p>
            <a:endParaRPr lang="en-US" dirty="0"/>
          </a:p>
        </p:txBody>
      </p:sp>
    </p:spTree>
    <p:extLst>
      <p:ext uri="{BB962C8B-B14F-4D97-AF65-F5344CB8AC3E}">
        <p14:creationId xmlns:p14="http://schemas.microsoft.com/office/powerpoint/2010/main" val="2576594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85B58923830E49944D5B019BDEBC39" ma:contentTypeVersion="12" ma:contentTypeDescription="Create a new document." ma:contentTypeScope="" ma:versionID="d4463c84f6102774bb81ed0ccdab41d6">
  <xsd:schema xmlns:xsd="http://www.w3.org/2001/XMLSchema" xmlns:xs="http://www.w3.org/2001/XMLSchema" xmlns:p="http://schemas.microsoft.com/office/2006/metadata/properties" xmlns:ns3="26afeec6-c0f5-4eb1-a1c3-11e7e49adc3d" targetNamespace="http://schemas.microsoft.com/office/2006/metadata/properties" ma:root="true" ma:fieldsID="eff7fdc48de9bab3f2dd713322ddd7e6" ns3:_="">
    <xsd:import namespace="26afeec6-c0f5-4eb1-a1c3-11e7e49adc3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afeec6-c0f5-4eb1-a1c3-11e7e49adc3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6afeec6-c0f5-4eb1-a1c3-11e7e49adc3d" xsi:nil="true"/>
  </documentManagement>
</p:properties>
</file>

<file path=customXml/itemProps1.xml><?xml version="1.0" encoding="utf-8"?>
<ds:datastoreItem xmlns:ds="http://schemas.openxmlformats.org/officeDocument/2006/customXml" ds:itemID="{84F2F5C3-8BDB-4522-B0F8-A64B5F6016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afeec6-c0f5-4eb1-a1c3-11e7e49adc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FA4120-6AF5-4D18-9039-F792E2148DB6}">
  <ds:schemaRefs>
    <ds:schemaRef ds:uri="http://schemas.microsoft.com/sharepoint/v3/contenttype/forms"/>
  </ds:schemaRefs>
</ds:datastoreItem>
</file>

<file path=customXml/itemProps3.xml><?xml version="1.0" encoding="utf-8"?>
<ds:datastoreItem xmlns:ds="http://schemas.openxmlformats.org/officeDocument/2006/customXml" ds:itemID="{06AEF977-680A-4510-9878-785340C08A8E}">
  <ds:schemaRefs>
    <ds:schemaRef ds:uri="26afeec6-c0f5-4eb1-a1c3-11e7e49adc3d"/>
    <ds:schemaRef ds:uri="http://schemas.microsoft.com/office/2006/documentManagement/types"/>
    <ds:schemaRef ds:uri="http://purl.org/dc/terms/"/>
    <ds:schemaRef ds:uri="http://schemas.openxmlformats.org/package/2006/metadata/core-properties"/>
    <ds:schemaRef ds:uri="http://purl.org/dc/elements/1.1/"/>
    <ds:schemaRef ds:uri="http://www.w3.org/XML/1998/namespace"/>
    <ds:schemaRef ds:uri="http://schemas.microsoft.com/office/2006/metadata/properti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341</TotalTime>
  <Words>524</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ECE 313 Spring 2026 Project Task 2</vt:lpstr>
      <vt:lpstr>Task 2</vt:lpstr>
      <vt:lpstr>Task 2</vt:lpstr>
      <vt:lpstr>Task 2</vt:lpstr>
      <vt:lpstr>Task 2</vt:lpstr>
      <vt:lpstr>Task 2</vt:lpstr>
      <vt:lpstr>Task 2</vt:lpstr>
      <vt:lpstr>Task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 313 Spring 2026 Project Task 0 &amp; 1</dc:title>
  <dc:creator>Shengkun Cui</dc:creator>
  <cp:lastModifiedBy>Keating, Brian Michael</cp:lastModifiedBy>
  <cp:revision>78</cp:revision>
  <dcterms:created xsi:type="dcterms:W3CDTF">2026-03-27T01:17:46Z</dcterms:created>
  <dcterms:modified xsi:type="dcterms:W3CDTF">2026-04-08T06:50:23Z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0x0101004385B58923830E49944D5B019BDEBC39</vt:lpwstr>
  </property>
</Properties>
</file>
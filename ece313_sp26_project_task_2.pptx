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57" r:id="rId6"/>
    <p:sldId id="258" r:id="rId7"/>
    <p:sldId id="259" r:id="rId8"/>
    <p:sldId id="260" r:id="rId9"/>
    <p:sldId id="261" r:id="rId10"/>
    <p:sldId id="262" r:id="rId11"/>
    <p:sldId id="263" r:id="rId12"/>
    <p:sldId id="26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18"/>
    <p:restoredTop sz="94668"/>
  </p:normalViewPr>
  <p:slideViewPr>
    <p:cSldViewPr snapToGrid="0">
      <p:cViewPr>
        <p:scale>
          <a:sx n="97" d="100"/>
          <a:sy n="97" d="100"/>
        </p:scale>
        <p:origin x="136"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FA849-657D-8857-1909-78542897CE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5A1C93-AF01-AF2B-B7EF-A3F5D2DAC0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98F2ED1-5C44-348C-E4AA-2BC9239418C8}"/>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E16BA140-AEAB-97F5-096D-E00FEF8668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779FCB-F3D3-351F-FDB4-E5ACEE23223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561092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89C05-4AAC-A9D9-63E2-F33DFC8484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C4AAF6-A9E6-98C8-E377-CC44E81170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F20B4D-8EA1-3CE3-A5ED-BB455E09311B}"/>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84D736B5-C0A0-7E11-7948-F8BF30E6C1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F4131D-4089-2CC1-151C-E5DDEDCD0D1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643570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457DB-4D9A-169C-C866-7BF2689028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9C7EEA-08C0-C5F1-809B-12ED01FAD1F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0CFCCD3-FC8D-1068-0B05-D682BC362E5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5866DAE3-AB16-AA81-1DC5-0A2D8E3E18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4C086B-76C1-58A7-4DC1-BDA2EC34BC1F}"/>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2958478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BFC5E-9C8B-E741-6D30-3B263D531C7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4D1FA5-13C3-3CB1-E7BE-48DF3F0E58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DAD568-0D0A-A2FA-6C0E-FE9C402704E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F69C3BC-56E9-1A09-08DA-7F5EC63661F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3DEC1AD5-6B2A-5F7C-90CB-C6C8E11A9A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C5A393-8796-2E0F-A7BD-C32E62F5D7B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2749191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21B70-AB5C-BB6F-3C4B-DFCFDDF37A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3F8F2E1-F756-CBEE-E205-2314806898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D5A9E68-A52E-1DB0-0479-0ACF1049AC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5407DB7-F4F0-9976-0290-2532176E5C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F2A16-882B-68FE-F061-DF0EBAF2DA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7CE486B-FEB9-EB1D-5BE9-DBDBF1C5A270}"/>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8" name="Footer Placeholder 7">
            <a:extLst>
              <a:ext uri="{FF2B5EF4-FFF2-40B4-BE49-F238E27FC236}">
                <a16:creationId xmlns:a16="http://schemas.microsoft.com/office/drawing/2014/main" id="{3A169DAF-76C1-B56F-96F7-347B5224BA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E91658-9087-81E1-02E5-666A0EC05962}"/>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171906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14CA7-E58F-BC45-E130-FAE059FC54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B209049-9E21-C951-F1D8-81A34BA75E1F}"/>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4" name="Footer Placeholder 3">
            <a:extLst>
              <a:ext uri="{FF2B5EF4-FFF2-40B4-BE49-F238E27FC236}">
                <a16:creationId xmlns:a16="http://schemas.microsoft.com/office/drawing/2014/main" id="{AD4E7CB8-4509-7B5D-B1F1-F03049777A5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C9C9288-ECD3-6248-06AB-BF2018389BE8}"/>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550643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2C01CB-E989-152D-A4F9-417EFCCB03B7}"/>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3" name="Footer Placeholder 2">
            <a:extLst>
              <a:ext uri="{FF2B5EF4-FFF2-40B4-BE49-F238E27FC236}">
                <a16:creationId xmlns:a16="http://schemas.microsoft.com/office/drawing/2014/main" id="{3E5511B5-8C84-69B7-697D-4A8F03778E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AFEF9F-0742-F2F5-0CBB-C3A0D4A779E5}"/>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6679753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C90F7-5C2B-4B11-A14D-D4668797E3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83BDFE-B7E1-A32D-BE57-EBF50E9D5A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8801A7-6E38-F25D-5499-F629A5D063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788D71-33D1-74ED-3EFD-B200E2019B67}"/>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6129B13C-84D3-5690-F822-9CEB098D72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49686E-EB2E-D5AB-736A-20B3ACAAA16D}"/>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712927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25639-4E0B-B719-3396-1BB5AE4654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09F971-F387-FA62-0934-C10CB033399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E6ADB3-B169-ECFC-A324-1A93B4EC5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81CB99C-F394-A9F9-74D8-3077216ECD7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BADE46DA-1BEE-A0DB-8635-1EA571C349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70BE6-792C-654F-0885-82CD479151F6}"/>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485956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5E38F-8896-620F-0A62-714E86E32E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3C5166-02B3-997B-6AA7-642A2A110D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FA19F2-696D-D2F8-164D-75BD30CAC6BE}"/>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8BEB5E9E-C6D7-EC2D-C3B8-AF2DC4CD1E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757F68-E10C-411C-55A4-90673A7C4A59}"/>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735374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817F7C-1B10-3163-D0F8-5492D389A7A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F8455D-7859-29E4-2835-C9275F2A017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769015-BFBE-F3CB-82F0-5FD74497750B}"/>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C1069B1F-9C76-A76D-7698-96E86FFDCB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22BB2F-5018-6246-00CA-CE375F48AEF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13294900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AE70D6-08F0-3D26-DF71-ACC6F31B4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73886-8D36-69A3-811A-A657F5B974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2E76F9-BD97-42A7-D778-A572647172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D88C8B95-7AD2-5241-B5CA-8F2CFCCCFF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FE50DF8-7D4F-C474-64D1-2E211672A6F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BCDED7-BAD9-3048-8A5A-D4118EDC73E8}" type="slidenum">
              <a:rPr lang="en-US" smtClean="0"/>
              <a:t>‹#›</a:t>
            </a:fld>
            <a:endParaRPr lang="en-US"/>
          </a:p>
        </p:txBody>
      </p:sp>
    </p:spTree>
    <p:extLst>
      <p:ext uri="{BB962C8B-B14F-4D97-AF65-F5344CB8AC3E}">
        <p14:creationId xmlns:p14="http://schemas.microsoft.com/office/powerpoint/2010/main" val="20672967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5090D-4F5C-160B-A1BD-811A2935F105}"/>
              </a:ext>
            </a:extLst>
          </p:cNvPr>
          <p:cNvSpPr>
            <a:spLocks noGrp="1"/>
          </p:cNvSpPr>
          <p:nvPr>
            <p:ph type="ctrTitle"/>
          </p:nvPr>
        </p:nvSpPr>
        <p:spPr/>
        <p:txBody>
          <a:bodyPr/>
          <a:lstStyle/>
          <a:p>
            <a:r>
              <a:rPr lang="en-US" dirty="0"/>
              <a:t>ECE 313 Spring 2026 Project</a:t>
            </a:r>
            <a:br>
              <a:rPr lang="en-US" dirty="0"/>
            </a:br>
            <a:r>
              <a:rPr lang="en-US" dirty="0"/>
              <a:t>Task 2</a:t>
            </a:r>
          </a:p>
        </p:txBody>
      </p:sp>
      <p:sp>
        <p:nvSpPr>
          <p:cNvPr id="3" name="Subtitle 2">
            <a:extLst>
              <a:ext uri="{FF2B5EF4-FFF2-40B4-BE49-F238E27FC236}">
                <a16:creationId xmlns:a16="http://schemas.microsoft.com/office/drawing/2014/main" id="{A9D6091A-A282-532A-5CB7-DB9E360D2F22}"/>
              </a:ext>
            </a:extLst>
          </p:cNvPr>
          <p:cNvSpPr>
            <a:spLocks noGrp="1"/>
          </p:cNvSpPr>
          <p:nvPr>
            <p:ph type="subTitle" idx="1"/>
          </p:nvPr>
        </p:nvSpPr>
        <p:spPr/>
        <p:txBody>
          <a:bodyPr/>
          <a:lstStyle/>
          <a:p>
            <a:r>
              <a:rPr lang="en-US" dirty="0"/>
              <a:t>&lt;Team1&gt;</a:t>
            </a:r>
          </a:p>
          <a:p>
            <a:r>
              <a:rPr lang="en-US" dirty="0"/>
              <a:t>&lt;dhruvv4 , vmagow2</a:t>
            </a:r>
            <a:r>
              <a:rPr lang="en-US"/>
              <a:t>, brianmk3&gt;</a:t>
            </a:r>
            <a:endParaRPr lang="en-US" dirty="0"/>
          </a:p>
          <a:p>
            <a:r>
              <a:rPr lang="en-US" dirty="0"/>
              <a:t>&lt;Dhruv Vohra, Vedaant </a:t>
            </a:r>
            <a:r>
              <a:rPr lang="en-US" dirty="0" err="1"/>
              <a:t>Magow</a:t>
            </a:r>
            <a:r>
              <a:rPr lang="en-US" dirty="0"/>
              <a:t>, Brian Keating&gt;</a:t>
            </a:r>
          </a:p>
        </p:txBody>
      </p:sp>
    </p:spTree>
    <p:extLst>
      <p:ext uri="{BB962C8B-B14F-4D97-AF65-F5344CB8AC3E}">
        <p14:creationId xmlns:p14="http://schemas.microsoft.com/office/powerpoint/2010/main" val="3133157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B128C-C253-A009-EF9B-6B9F0142A68A}"/>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B4464E1-5C47-5A33-063B-160B7C884A65}"/>
              </a:ext>
            </a:extLst>
          </p:cNvPr>
          <p:cNvSpPr>
            <a:spLocks noGrp="1"/>
          </p:cNvSpPr>
          <p:nvPr>
            <p:ph idx="1"/>
          </p:nvPr>
        </p:nvSpPr>
        <p:spPr>
          <a:xfrm>
            <a:off x="838200" y="1371599"/>
            <a:ext cx="10515600" cy="5236029"/>
          </a:xfrm>
        </p:spPr>
        <p:txBody>
          <a:bodyPr>
            <a:normAutofit fontScale="92500" lnSpcReduction="10000"/>
          </a:bodyPr>
          <a:lstStyle/>
          <a:p>
            <a:r>
              <a:rPr lang="en-US" dirty="0"/>
              <a:t>Q1: Restate the distribution name and its parameters? One of the TAs found that the exponential distribution is a good fit. Does your answer agree with the TA's? If not, please explain.</a:t>
            </a:r>
          </a:p>
          <a:p>
            <a:pPr marL="0" indent="0">
              <a:buNone/>
            </a:pPr>
            <a:r>
              <a:rPr lang="en-US" dirty="0"/>
              <a:t>	Exponential, </a:t>
            </a:r>
          </a:p>
          <a:p>
            <a:pPr marL="0" indent="0">
              <a:buNone/>
            </a:pPr>
            <a:r>
              <a:rPr lang="en-US" dirty="0"/>
              <a:t>	location = 0.011411905288696289,</a:t>
            </a:r>
          </a:p>
          <a:p>
            <a:pPr marL="0" indent="0">
              <a:buNone/>
            </a:pPr>
            <a:r>
              <a:rPr lang="en-US" dirty="0"/>
              <a:t>	 scale = 1054.4761089655117,</a:t>
            </a:r>
          </a:p>
          <a:p>
            <a:pPr marL="0" indent="0">
              <a:buNone/>
            </a:pPr>
            <a:r>
              <a:rPr lang="en-US" dirty="0"/>
              <a:t>	lambda = 0.0009483382235952645 failures/second</a:t>
            </a:r>
          </a:p>
          <a:p>
            <a:pPr marL="0" indent="0">
              <a:buNone/>
            </a:pPr>
            <a:r>
              <a:rPr lang="en-US" dirty="0"/>
              <a:t>	Yes our answer is Exponential, agreeing with the TAs</a:t>
            </a:r>
          </a:p>
          <a:p>
            <a:r>
              <a:rPr lang="en-US" dirty="0"/>
              <a:t>Q2: (Skip if you answer Yes for Q1). Assuming interarrival time of XID are exponentially distributed, use Scipy Python Library to estimate the parameters and report them here.</a:t>
            </a:r>
          </a:p>
          <a:p>
            <a:pPr marL="0" indent="0">
              <a:buNone/>
            </a:pPr>
            <a:r>
              <a:rPr lang="en-US" dirty="0"/>
              <a:t>	Skipped</a:t>
            </a:r>
          </a:p>
          <a:p>
            <a:endParaRPr lang="en-US" dirty="0"/>
          </a:p>
          <a:p>
            <a:endParaRPr lang="en-US" dirty="0"/>
          </a:p>
        </p:txBody>
      </p:sp>
    </p:spTree>
    <p:extLst>
      <p:ext uri="{BB962C8B-B14F-4D97-AF65-F5344CB8AC3E}">
        <p14:creationId xmlns:p14="http://schemas.microsoft.com/office/powerpoint/2010/main" val="34528034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3FDEF-AE48-E0EF-3300-79BE1E4981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E844A2-B107-8F04-8EDE-688D1D964262}"/>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2FDB8E10-96A1-DBEE-8DCF-628D957AB1F3}"/>
              </a:ext>
            </a:extLst>
          </p:cNvPr>
          <p:cNvSpPr>
            <a:spLocks noGrp="1"/>
          </p:cNvSpPr>
          <p:nvPr>
            <p:ph idx="1"/>
          </p:nvPr>
        </p:nvSpPr>
        <p:spPr/>
        <p:txBody>
          <a:bodyPr/>
          <a:lstStyle/>
          <a:p>
            <a:r>
              <a:rPr lang="en-US" dirty="0"/>
              <a:t>Q3a: What is the MTBF in hours? </a:t>
            </a:r>
          </a:p>
          <a:p>
            <a:pPr marL="457200" lvl="1" indent="0">
              <a:buNone/>
            </a:pPr>
            <a:r>
              <a:rPr lang="en-US" sz="2800" dirty="0"/>
              <a:t>0.292909215787224 hours</a:t>
            </a:r>
          </a:p>
          <a:p>
            <a:endParaRPr lang="en-US" dirty="0"/>
          </a:p>
          <a:p>
            <a:endParaRPr lang="en-US" dirty="0"/>
          </a:p>
          <a:p>
            <a:r>
              <a:rPr lang="en-US" dirty="0"/>
              <a:t>Q3b: What is the MTBF in seconds and how did you convert MTBF in hours to seconds?</a:t>
            </a:r>
          </a:p>
          <a:p>
            <a:pPr marL="457200" lvl="1" indent="0">
              <a:buNone/>
            </a:pPr>
            <a:r>
              <a:rPr lang="en-US" sz="2800" dirty="0"/>
              <a:t>1054.4731768340064 seconds, we multiplied the MTBF in hours by (3600 seconds per hour)</a:t>
            </a:r>
          </a:p>
          <a:p>
            <a:pPr marL="457200" lvl="1" indent="0">
              <a:buNone/>
            </a:pPr>
            <a:endParaRPr lang="en-US" dirty="0"/>
          </a:p>
          <a:p>
            <a:endParaRPr lang="en-US" dirty="0"/>
          </a:p>
        </p:txBody>
      </p:sp>
    </p:spTree>
    <p:extLst>
      <p:ext uri="{BB962C8B-B14F-4D97-AF65-F5344CB8AC3E}">
        <p14:creationId xmlns:p14="http://schemas.microsoft.com/office/powerpoint/2010/main" val="1561161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31697-FFD7-C785-5399-0E3E7B36F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855496-51EA-E506-424C-6DEF19AA1FB8}"/>
              </a:ext>
            </a:extLst>
          </p:cNvPr>
          <p:cNvSpPr>
            <a:spLocks noGrp="1"/>
          </p:cNvSpPr>
          <p:nvPr>
            <p:ph type="title"/>
          </p:nvPr>
        </p:nvSpPr>
        <p:spPr>
          <a:xfrm>
            <a:off x="631371" y="0"/>
            <a:ext cx="10515600" cy="1325563"/>
          </a:xfrm>
        </p:spPr>
        <p:txBody>
          <a:bodyPr/>
          <a:lstStyle/>
          <a:p>
            <a:r>
              <a:rPr lang="en-US" dirty="0"/>
              <a:t>Task 2</a:t>
            </a:r>
          </a:p>
        </p:txBody>
      </p:sp>
      <p:sp>
        <p:nvSpPr>
          <p:cNvPr id="3" name="Content Placeholder 2">
            <a:extLst>
              <a:ext uri="{FF2B5EF4-FFF2-40B4-BE49-F238E27FC236}">
                <a16:creationId xmlns:a16="http://schemas.microsoft.com/office/drawing/2014/main" id="{50731468-0345-A3B6-9414-735667B81D93}"/>
              </a:ext>
            </a:extLst>
          </p:cNvPr>
          <p:cNvSpPr>
            <a:spLocks noGrp="1"/>
          </p:cNvSpPr>
          <p:nvPr>
            <p:ph idx="1"/>
          </p:nvPr>
        </p:nvSpPr>
        <p:spPr>
          <a:xfrm>
            <a:off x="239486" y="1045027"/>
            <a:ext cx="11734800" cy="5442857"/>
          </a:xfrm>
        </p:spPr>
        <p:txBody>
          <a:bodyPr>
            <a:normAutofit fontScale="92500" lnSpcReduction="10000"/>
          </a:bodyPr>
          <a:lstStyle/>
          <a:p>
            <a:r>
              <a:rPr lang="en-US" dirty="0"/>
              <a:t>Q4a: What does this comparison suggest about the relationship between the fitted parameter(s) and MTBF of the actual data?</a:t>
            </a:r>
          </a:p>
          <a:p>
            <a:pPr marL="0" indent="0">
              <a:buNone/>
            </a:pPr>
            <a:r>
              <a:rPr lang="en-US" dirty="0"/>
              <a:t>The two MTBFs are nearly identical, suggesting that the scale parameter (mean of the exponential distribution for interarrival times) is approximately equal to the MTBF of the actual data (empirical MTBF)</a:t>
            </a:r>
          </a:p>
          <a:p>
            <a:r>
              <a:rPr lang="en-US" dirty="0"/>
              <a:t>Q4b: Does the relationship you found in part (a) by itself establish that the exponential model is a good fit? Why or why not? If not, describe the additional evidence needed to conclude that the exponential model is appropriate</a:t>
            </a:r>
          </a:p>
          <a:p>
            <a:pPr marL="0" indent="0">
              <a:buNone/>
            </a:pPr>
            <a:r>
              <a:rPr lang="en-US" dirty="0"/>
              <a:t>The relationship found in part a shows that the averages of the distribution and actual data are consistent, NOT that the exponential model is a good fit. We also need to confirm the shapes of the distribution, and the actual data are consistent. We know the shapes are consistent from the KS goodness of fit test from Task 1 part 6. Since for the exponential distribution the p-value &gt; 0.05 and the KS statistic is the lowest, we know the shapes of the exponential distribution and the actual data match well.</a:t>
            </a:r>
          </a:p>
          <a:p>
            <a:endParaRPr lang="en-US" dirty="0"/>
          </a:p>
          <a:p>
            <a:endParaRPr lang="en-US" dirty="0"/>
          </a:p>
          <a:p>
            <a:endParaRPr lang="en-US" dirty="0"/>
          </a:p>
        </p:txBody>
      </p:sp>
    </p:spTree>
    <p:extLst>
      <p:ext uri="{BB962C8B-B14F-4D97-AF65-F5344CB8AC3E}">
        <p14:creationId xmlns:p14="http://schemas.microsoft.com/office/powerpoint/2010/main" val="29902902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BDF9C-607F-AD0F-B2C0-6EA25E8F0E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1556F-9FF0-0058-5277-5027327BCAEA}"/>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EF4FD4D-75F7-0A60-26C1-DA41728D530F}"/>
              </a:ext>
            </a:extLst>
          </p:cNvPr>
          <p:cNvSpPr>
            <a:spLocks noGrp="1"/>
          </p:cNvSpPr>
          <p:nvPr>
            <p:ph idx="1"/>
          </p:nvPr>
        </p:nvSpPr>
        <p:spPr/>
        <p:txBody>
          <a:bodyPr>
            <a:normAutofit fontScale="92500" lnSpcReduction="20000"/>
          </a:bodyPr>
          <a:lstStyle/>
          <a:p>
            <a:r>
              <a:rPr lang="en-US" dirty="0"/>
              <a:t>Q5a: How many unique inter-arrival time values are there?</a:t>
            </a:r>
          </a:p>
          <a:p>
            <a:pPr marL="0" indent="0" algn="l">
              <a:buNone/>
            </a:pPr>
            <a:endParaRPr lang="en-US" b="0" i="0" dirty="0">
              <a:effectLst/>
              <a:latin typeface="Menlo" panose="020B0609030804020204" pitchFamily="49" charset="0"/>
            </a:endParaRPr>
          </a:p>
          <a:p>
            <a:pPr marL="0" indent="0" algn="l">
              <a:buNone/>
            </a:pPr>
            <a:r>
              <a:rPr lang="en-US" b="0" i="0" dirty="0">
                <a:effectLst/>
                <a:latin typeface="Menlo" panose="020B0609030804020204" pitchFamily="49" charset="0"/>
              </a:rPr>
              <a:t>Number of unique interarrival times: 73512 </a:t>
            </a:r>
            <a:endParaRPr lang="en-US" dirty="0"/>
          </a:p>
          <a:p>
            <a:endParaRPr lang="en-US" dirty="0"/>
          </a:p>
          <a:p>
            <a:r>
              <a:rPr lang="en-US" dirty="0"/>
              <a:t>Q5b: What are the first ten values of your estimated </a:t>
            </a:r>
            <a:r>
              <a:rPr lang="en-US" dirty="0" err="1"/>
              <a:t>Ĥ</a:t>
            </a:r>
            <a:r>
              <a:rPr lang="en-US" dirty="0"/>
              <a:t>(𝑡)?</a:t>
            </a:r>
          </a:p>
          <a:p>
            <a:pPr marL="0" indent="0">
              <a:buNone/>
            </a:pPr>
            <a:r>
              <a:rPr lang="en-US" dirty="0"/>
              <a:t>first ten values for the cumulative hazard are: </a:t>
            </a:r>
          </a:p>
          <a:p>
            <a:pPr marL="0" indent="0">
              <a:buNone/>
            </a:pPr>
            <a:r>
              <a:rPr lang="en-US" dirty="0"/>
              <a:t>[1.3603036197679321e-05, 	2.7206257440469614e-05, 4.080966373340536e-05,       	5.441325508152126e-05, 6.801703148985221e-05, 	8.162099296343331e-05, 9.522513950729989e-05, 	0.00010882947112648744, 0.0001224339878260317, 	0.00013603868961096856]</a:t>
            </a:r>
          </a:p>
        </p:txBody>
      </p:sp>
    </p:spTree>
    <p:extLst>
      <p:ext uri="{BB962C8B-B14F-4D97-AF65-F5344CB8AC3E}">
        <p14:creationId xmlns:p14="http://schemas.microsoft.com/office/powerpoint/2010/main" val="2103940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D7E107-9D14-292A-17ED-E4A5CBC9C8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895ED-BA7A-C596-2FB7-F129ED464636}"/>
              </a:ext>
            </a:extLst>
          </p:cNvPr>
          <p:cNvSpPr>
            <a:spLocks noGrp="1"/>
          </p:cNvSpPr>
          <p:nvPr>
            <p:ph type="title"/>
          </p:nvPr>
        </p:nvSpPr>
        <p:spPr>
          <a:xfrm>
            <a:off x="561900" y="-466739"/>
            <a:ext cx="3455821" cy="1616203"/>
          </a:xfrm>
        </p:spPr>
        <p:txBody>
          <a:bodyPr anchor="b">
            <a:normAutofit/>
          </a:bodyPr>
          <a:lstStyle/>
          <a:p>
            <a:r>
              <a:rPr lang="en-US" sz="3200" dirty="0"/>
              <a:t>Task 2</a:t>
            </a:r>
          </a:p>
        </p:txBody>
      </p:sp>
      <p:sp>
        <p:nvSpPr>
          <p:cNvPr id="3" name="Content Placeholder 2">
            <a:extLst>
              <a:ext uri="{FF2B5EF4-FFF2-40B4-BE49-F238E27FC236}">
                <a16:creationId xmlns:a16="http://schemas.microsoft.com/office/drawing/2014/main" id="{7691B65B-061D-E897-1FC2-6A50A91892F1}"/>
              </a:ext>
            </a:extLst>
          </p:cNvPr>
          <p:cNvSpPr>
            <a:spLocks noGrp="1"/>
          </p:cNvSpPr>
          <p:nvPr>
            <p:ph idx="1"/>
          </p:nvPr>
        </p:nvSpPr>
        <p:spPr>
          <a:xfrm>
            <a:off x="507587" y="1439194"/>
            <a:ext cx="4349226" cy="4766734"/>
          </a:xfrm>
        </p:spPr>
        <p:txBody>
          <a:bodyPr anchor="t">
            <a:normAutofit fontScale="92500" lnSpcReduction="10000"/>
          </a:bodyPr>
          <a:lstStyle/>
          <a:p>
            <a:r>
              <a:rPr lang="en-US" sz="2000" dirty="0"/>
              <a:t>Q5c: Plot the estimated cumulative hazard function. What can You conclude?</a:t>
            </a:r>
          </a:p>
          <a:p>
            <a:pPr marL="0" indent="0">
              <a:buNone/>
            </a:pPr>
            <a:r>
              <a:rPr lang="en-US" sz="2000" dirty="0"/>
              <a:t>The graph is approximately linear, it increases at a linear rate, and the cumulative hazard is predictable. Since the slope is also constant the instantaneous failure rate can be viewed as constant</a:t>
            </a:r>
          </a:p>
          <a:p>
            <a:endParaRPr lang="en-US" sz="2000" dirty="0"/>
          </a:p>
          <a:p>
            <a:r>
              <a:rPr lang="en-US" sz="2000" dirty="0"/>
              <a:t>Q5d: Is the system at the initial mortality, normal life, or wear-out period of its life?</a:t>
            </a:r>
          </a:p>
          <a:p>
            <a:pPr marL="0" indent="0">
              <a:buNone/>
            </a:pPr>
            <a:r>
              <a:rPr lang="en-US" sz="2000" dirty="0"/>
              <a:t>The system is in the normal life period of its cycle. This is seen by the flat, linear section in the middle of the reliability curve.</a:t>
            </a:r>
          </a:p>
          <a:p>
            <a:pPr marL="0" indent="0">
              <a:buNone/>
            </a:pPr>
            <a:endParaRPr lang="en-US" sz="2000" dirty="0"/>
          </a:p>
          <a:p>
            <a:endParaRPr lang="en-US" sz="2000" dirty="0"/>
          </a:p>
          <a:p>
            <a:endParaRPr lang="en-US" sz="2000" dirty="0"/>
          </a:p>
          <a:p>
            <a:endParaRPr lang="en-US" sz="2000" dirty="0"/>
          </a:p>
        </p:txBody>
      </p:sp>
      <p:pic>
        <p:nvPicPr>
          <p:cNvPr id="1026" name="Picture 2" descr="A graph with a line going up&#10;&#10;Description automatically generated">
            <a:extLst>
              <a:ext uri="{FF2B5EF4-FFF2-40B4-BE49-F238E27FC236}">
                <a16:creationId xmlns:a16="http://schemas.microsoft.com/office/drawing/2014/main" id="{A1FB1F21-D083-F25D-5F80-5DECB2814C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87672" y="1149464"/>
            <a:ext cx="6389346" cy="4568382"/>
          </a:xfrm>
          <a:prstGeom prst="rect">
            <a:avLst/>
          </a:prstGeom>
          <a:noFill/>
          <a:extLst>
            <a:ext uri="{909E8E84-426E-40DD-AFC4-6F175D3DCCD1}">
              <a14:hiddenFill xmlns:a14="http://schemas.microsoft.com/office/drawing/2010/main">
                <a:solidFill>
                  <a:srgbClr val="FFFFFF"/>
                </a:solidFill>
              </a14:hiddenFill>
            </a:ext>
          </a:extLst>
        </p:spPr>
      </p:pic>
      <p:grpSp>
        <p:nvGrpSpPr>
          <p:cNvPr id="1031" name="Group 1030">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032" name="Rectangle 1031">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43018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378E6-9E19-1442-AC58-B0531485BC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AD52D-D9CD-BA03-725B-ECB0315040C6}"/>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3D98823-DF2B-A2C3-E19E-952DFA421889}"/>
              </a:ext>
            </a:extLst>
          </p:cNvPr>
          <p:cNvSpPr>
            <a:spLocks noGrp="1"/>
          </p:cNvSpPr>
          <p:nvPr>
            <p:ph idx="1"/>
          </p:nvPr>
        </p:nvSpPr>
        <p:spPr/>
        <p:txBody>
          <a:bodyPr>
            <a:normAutofit/>
          </a:bodyPr>
          <a:lstStyle/>
          <a:p>
            <a:r>
              <a:rPr lang="en-US" dirty="0"/>
              <a:t>Q5e: Estimate the average hazard rate from the cumulative hazard rate and report its value.</a:t>
            </a:r>
          </a:p>
          <a:p>
            <a:pPr marL="0" indent="0">
              <a:buNone/>
            </a:pPr>
            <a:endParaRPr lang="en-US" dirty="0"/>
          </a:p>
          <a:p>
            <a:pPr marL="0" indent="0">
              <a:buNone/>
            </a:pPr>
            <a:r>
              <a:rPr lang="en-US" dirty="0"/>
              <a:t>We can estimate the average hazard rate by taking the last point of the cumulative hazard rate (which the sum of all hazard rates) and dividing it by the max value of T over which those points were calculated.</a:t>
            </a:r>
          </a:p>
          <a:p>
            <a:pPr marL="0" indent="0">
              <a:buNone/>
            </a:pPr>
            <a:endParaRPr lang="en-US" dirty="0"/>
          </a:p>
          <a:p>
            <a:pPr marL="0" indent="0">
              <a:buNone/>
            </a:pPr>
            <a:r>
              <a:rPr lang="en-US" dirty="0"/>
              <a:t>Estimated average hazard rate = 0.0009236086705974977</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2324413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079E33-7B32-8935-1EB2-B26BC146C081}"/>
            </a:ext>
          </a:extLst>
        </p:cNvPr>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CF40B2-C76C-6210-1180-070D5270BF3F}"/>
              </a:ext>
            </a:extLst>
          </p:cNvPr>
          <p:cNvSpPr>
            <a:spLocks noGrp="1"/>
          </p:cNvSpPr>
          <p:nvPr>
            <p:ph type="title"/>
          </p:nvPr>
        </p:nvSpPr>
        <p:spPr>
          <a:xfrm>
            <a:off x="630936" y="325452"/>
            <a:ext cx="4818888" cy="1481328"/>
          </a:xfrm>
        </p:spPr>
        <p:txBody>
          <a:bodyPr anchor="b">
            <a:normAutofit/>
          </a:bodyPr>
          <a:lstStyle/>
          <a:p>
            <a:r>
              <a:rPr lang="en-US" sz="5400" dirty="0"/>
              <a:t>Task 2</a:t>
            </a:r>
          </a:p>
        </p:txBody>
      </p:sp>
      <p:sp>
        <p:nvSpPr>
          <p:cNvPr id="2057"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BD9CAEB-8A59-A5FA-E3E8-04405D468E5D}"/>
                  </a:ext>
                </a:extLst>
              </p:cNvPr>
              <p:cNvSpPr>
                <a:spLocks noGrp="1"/>
              </p:cNvSpPr>
              <p:nvPr>
                <p:ph idx="1"/>
              </p:nvPr>
            </p:nvSpPr>
            <p:spPr>
              <a:xfrm>
                <a:off x="5950712" y="96344"/>
                <a:ext cx="6111240" cy="6418756"/>
              </a:xfrm>
            </p:spPr>
            <p:txBody>
              <a:bodyPr anchor="t">
                <a:normAutofit lnSpcReduction="10000"/>
              </a:bodyPr>
              <a:lstStyle/>
              <a:p>
                <a:r>
                  <a:rPr lang="en-US" sz="2200" dirty="0"/>
                  <a:t>Q5f: Write down the theoretical cumulated hazard function and plot it on the same plot as Q5-c. </a:t>
                </a:r>
              </a:p>
              <a:p>
                <a:pPr marL="0" indent="0">
                  <a:buNone/>
                </a:pPr>
                <a:r>
                  <a:rPr lang="en-US" sz="2200" dirty="0"/>
                  <a:t>Theoretical cumulative hazard  H(t) =  </a:t>
                </a:r>
                <a14:m>
                  <m:oMath xmlns:m="http://schemas.openxmlformats.org/officeDocument/2006/math">
                    <m:r>
                      <a:rPr lang="en-US" sz="2200" b="0" i="1">
                        <a:latin typeface="Cambria Math" panose="02040503050406030204" pitchFamily="18" charset="0"/>
                      </a:rPr>
                      <m:t>𝜆</m:t>
                    </m:r>
                  </m:oMath>
                </a14:m>
                <a:r>
                  <a:rPr lang="en-US" sz="2200" dirty="0"/>
                  <a:t>* t</a:t>
                </a:r>
              </a:p>
              <a:p>
                <a:r>
                  <a:rPr lang="en-US" sz="2200" dirty="0"/>
                  <a:t>Q5e: Compare the empirical hazard rate and cumulative hazard function with the theoretical ones. Are they consistent with each other? Why, or why not?</a:t>
                </a:r>
              </a:p>
              <a:p>
                <a:pPr marL="0" indent="0">
                  <a:buNone/>
                </a:pPr>
                <a:r>
                  <a:rPr lang="en-US" sz="2200" dirty="0"/>
                  <a:t>We can observe from the graph that the empirical Nelson-</a:t>
                </a:r>
                <a:r>
                  <a:rPr lang="en-US" sz="2200" dirty="0" err="1"/>
                  <a:t>Aelen</a:t>
                </a:r>
                <a:r>
                  <a:rPr lang="en-US" sz="2200" dirty="0"/>
                  <a:t> estimated cumulative hazard function and the theoretical cumulative hazard function represented with </a:t>
                </a:r>
                <a:r>
                  <a:rPr lang="en-US" sz="2200" dirty="0" err="1"/>
                  <a:t>Th_Ht</a:t>
                </a:r>
                <a:r>
                  <a:rPr lang="en-US" sz="2200" dirty="0"/>
                  <a:t> are pretty consistent</a:t>
                </a:r>
              </a:p>
              <a:p>
                <a:pPr marL="0" indent="0">
                  <a:buNone/>
                </a:pPr>
                <a:r>
                  <a:rPr lang="en-US" sz="2200" dirty="0"/>
                  <a:t>We can see this as the dotted line covers the solid curve almost perfectly till about the first half of the graph.</a:t>
                </a:r>
              </a:p>
              <a:p>
                <a:pPr marL="0" indent="0">
                  <a:buNone/>
                </a:pPr>
                <a:r>
                  <a:rPr lang="en-US" sz="2200" dirty="0"/>
                  <a:t>After which it follows the trend of the solid curve fairly well.</a:t>
                </a:r>
              </a:p>
              <a:p>
                <a:pPr marL="0" indent="0">
                  <a:buNone/>
                </a:pPr>
                <a:r>
                  <a:rPr lang="en-US" sz="2200" dirty="0"/>
                  <a:t>Overall conclusion - Consistent with each other</a:t>
                </a:r>
              </a:p>
              <a:p>
                <a:pPr marL="0" indent="0">
                  <a:buNone/>
                </a:pPr>
                <a:endParaRPr lang="en-US" sz="2200" dirty="0"/>
              </a:p>
              <a:p>
                <a:pPr marL="0" indent="0">
                  <a:buNone/>
                </a:pPr>
                <a:endParaRPr lang="en-US" sz="2200" dirty="0"/>
              </a:p>
            </p:txBody>
          </p:sp>
        </mc:Choice>
        <mc:Fallback xmlns="">
          <p:sp>
            <p:nvSpPr>
              <p:cNvPr id="3" name="Content Placeholder 2">
                <a:extLst>
                  <a:ext uri="{FF2B5EF4-FFF2-40B4-BE49-F238E27FC236}">
                    <a16:creationId xmlns:a16="http://schemas.microsoft.com/office/drawing/2014/main" id="{6BD9CAEB-8A59-A5FA-E3E8-04405D468E5D}"/>
                  </a:ext>
                </a:extLst>
              </p:cNvPr>
              <p:cNvSpPr>
                <a:spLocks noGrp="1" noRot="1" noChangeAspect="1" noMove="1" noResize="1" noEditPoints="1" noAdjustHandles="1" noChangeArrowheads="1" noChangeShapeType="1" noTextEdit="1"/>
              </p:cNvSpPr>
              <p:nvPr>
                <p:ph idx="1"/>
              </p:nvPr>
            </p:nvSpPr>
            <p:spPr>
              <a:xfrm>
                <a:off x="5950712" y="96344"/>
                <a:ext cx="6111240" cy="6418756"/>
              </a:xfrm>
              <a:blipFill>
                <a:blip r:embed="rId2"/>
                <a:stretch>
                  <a:fillRect l="-1245" t="-1381" r="-1867"/>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74D9BCD4-0EA1-9245-EDD1-121CB6CF5E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30048" y="1806780"/>
            <a:ext cx="5458968" cy="4053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6594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AB629-46AB-54E4-30B0-A01A21F9FF40}"/>
              </a:ext>
            </a:extLst>
          </p:cNvPr>
          <p:cNvSpPr>
            <a:spLocks noGrp="1"/>
          </p:cNvSpPr>
          <p:nvPr>
            <p:ph type="title"/>
          </p:nvPr>
        </p:nvSpPr>
        <p:spPr/>
        <p:txBody>
          <a:bodyPr/>
          <a:lstStyle/>
          <a:p>
            <a:r>
              <a:rPr lang="en-US" dirty="0"/>
              <a:t>Team Member Assessment</a:t>
            </a:r>
          </a:p>
        </p:txBody>
      </p:sp>
      <p:sp>
        <p:nvSpPr>
          <p:cNvPr id="3" name="Content Placeholder 2">
            <a:extLst>
              <a:ext uri="{FF2B5EF4-FFF2-40B4-BE49-F238E27FC236}">
                <a16:creationId xmlns:a16="http://schemas.microsoft.com/office/drawing/2014/main" id="{AA8887A7-EBAC-70AE-474C-34A8B73816D2}"/>
              </a:ext>
            </a:extLst>
          </p:cNvPr>
          <p:cNvSpPr>
            <a:spLocks noGrp="1"/>
          </p:cNvSpPr>
          <p:nvPr>
            <p:ph idx="1"/>
          </p:nvPr>
        </p:nvSpPr>
        <p:spPr>
          <a:xfrm>
            <a:off x="838200" y="1470992"/>
            <a:ext cx="10515600" cy="5247860"/>
          </a:xfrm>
        </p:spPr>
        <p:txBody>
          <a:bodyPr>
            <a:normAutofit lnSpcReduction="10000"/>
          </a:bodyPr>
          <a:lstStyle/>
          <a:p>
            <a:pPr marL="0" indent="0">
              <a:buNone/>
            </a:pPr>
            <a:r>
              <a:rPr lang="en-US" dirty="0"/>
              <a:t>Member 1 - Dhruv Vohra : </a:t>
            </a:r>
          </a:p>
          <a:p>
            <a:pPr marL="0" indent="0">
              <a:buNone/>
            </a:pPr>
            <a:r>
              <a:rPr lang="en-US" dirty="0"/>
              <a:t>• Self Assessment – Worked on Task 2 parts 5 d, e, f, g</a:t>
            </a:r>
          </a:p>
          <a:p>
            <a:pPr marL="0" indent="0">
              <a:buNone/>
            </a:pPr>
            <a:r>
              <a:rPr lang="en-US" dirty="0"/>
              <a:t>• Assessment of other team members – Brian and Vedaant finished their parts with great diligence and communicated very well. </a:t>
            </a:r>
          </a:p>
          <a:p>
            <a:pPr marL="0" indent="0">
              <a:buNone/>
            </a:pPr>
            <a:r>
              <a:rPr lang="en-US" dirty="0"/>
              <a:t>Member 2 - Vedaant </a:t>
            </a:r>
            <a:r>
              <a:rPr lang="en-US" dirty="0" err="1"/>
              <a:t>Magow</a:t>
            </a:r>
            <a:r>
              <a:rPr lang="en-US" dirty="0"/>
              <a:t> : </a:t>
            </a:r>
          </a:p>
          <a:p>
            <a:pPr marL="0" indent="0">
              <a:buNone/>
            </a:pPr>
            <a:r>
              <a:rPr lang="en-US" dirty="0"/>
              <a:t>• Self Assessment - Worked on Task 2 parts 5 a, </a:t>
            </a:r>
            <a:r>
              <a:rPr lang="en-US" dirty="0" err="1"/>
              <a:t>b,c</a:t>
            </a:r>
            <a:endParaRPr lang="en-US" dirty="0"/>
          </a:p>
          <a:p>
            <a:pPr marL="0" indent="0">
              <a:buNone/>
            </a:pPr>
            <a:r>
              <a:rPr lang="en-US" dirty="0"/>
              <a:t> • Assessment of other team members – Dhruv and Brian were great teammates. Good contribution and communication all around.</a:t>
            </a:r>
          </a:p>
          <a:p>
            <a:pPr marL="0" indent="0">
              <a:buNone/>
            </a:pPr>
            <a:r>
              <a:rPr lang="en-US" dirty="0"/>
              <a:t>Member 3 - Brian Keating :</a:t>
            </a:r>
          </a:p>
          <a:p>
            <a:pPr marL="0" indent="0">
              <a:buNone/>
            </a:pPr>
            <a:r>
              <a:rPr lang="en-US" dirty="0"/>
              <a:t>• Self Assessment - Task 2 part 1, 3, 4 </a:t>
            </a:r>
          </a:p>
          <a:p>
            <a:pPr marL="0" indent="0">
              <a:buNone/>
            </a:pPr>
            <a:r>
              <a:rPr lang="en-US" dirty="0"/>
              <a:t>• Assessment of other team members – Dhruv and Vedaant finished their work and were good at communicating.</a:t>
            </a:r>
          </a:p>
        </p:txBody>
      </p:sp>
    </p:spTree>
    <p:extLst>
      <p:ext uri="{BB962C8B-B14F-4D97-AF65-F5344CB8AC3E}">
        <p14:creationId xmlns:p14="http://schemas.microsoft.com/office/powerpoint/2010/main" val="2935586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6afeec6-c0f5-4eb1-a1c3-11e7e49adc3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385B58923830E49944D5B019BDEBC39" ma:contentTypeVersion="12" ma:contentTypeDescription="Create a new document." ma:contentTypeScope="" ma:versionID="d4463c84f6102774bb81ed0ccdab41d6">
  <xsd:schema xmlns:xsd="http://www.w3.org/2001/XMLSchema" xmlns:xs="http://www.w3.org/2001/XMLSchema" xmlns:p="http://schemas.microsoft.com/office/2006/metadata/properties" xmlns:ns3="26afeec6-c0f5-4eb1-a1c3-11e7e49adc3d" targetNamespace="http://schemas.microsoft.com/office/2006/metadata/properties" ma:root="true" ma:fieldsID="eff7fdc48de9bab3f2dd713322ddd7e6" ns3:_="">
    <xsd:import namespace="26afeec6-c0f5-4eb1-a1c3-11e7e49adc3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afeec6-c0f5-4eb1-a1c3-11e7e49adc3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_activity" ma:index="19"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AEF977-680A-4510-9878-785340C08A8E}">
  <ds:schemaRefs>
    <ds:schemaRef ds:uri="26afeec6-c0f5-4eb1-a1c3-11e7e49adc3d"/>
    <ds:schemaRef ds:uri="http://schemas.microsoft.com/office/2006/documentManagement/types"/>
    <ds:schemaRef ds:uri="http://purl.org/dc/terms/"/>
    <ds:schemaRef ds:uri="http://schemas.openxmlformats.org/package/2006/metadata/core-properties"/>
    <ds:schemaRef ds:uri="http://purl.org/dc/elements/1.1/"/>
    <ds:schemaRef ds:uri="http://www.w3.org/XML/1998/namespace"/>
    <ds:schemaRef ds:uri="http://schemas.microsoft.com/office/2006/metadata/properties"/>
    <ds:schemaRef ds:uri="http://schemas.microsoft.com/office/infopath/2007/PartnerControls"/>
    <ds:schemaRef ds:uri="http://purl.org/dc/dcmitype/"/>
  </ds:schemaRefs>
</ds:datastoreItem>
</file>

<file path=customXml/itemProps2.xml><?xml version="1.0" encoding="utf-8"?>
<ds:datastoreItem xmlns:ds="http://schemas.openxmlformats.org/officeDocument/2006/customXml" ds:itemID="{84F2F5C3-8BDB-4522-B0F8-A64B5F6016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6afeec6-c0f5-4eb1-a1c3-11e7e49adc3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BFA4120-6AF5-4D18-9039-F792E2148DB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387</TotalTime>
  <Words>884</Words>
  <Application>Microsoft Macintosh PowerPoint</Application>
  <PresentationFormat>Widescreen</PresentationFormat>
  <Paragraphs>67</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Cambria Math</vt:lpstr>
      <vt:lpstr>Menlo</vt:lpstr>
      <vt:lpstr>Office Theme</vt:lpstr>
      <vt:lpstr>ECE 313 Spring 2026 Project Task 2</vt:lpstr>
      <vt:lpstr>Task 2</vt:lpstr>
      <vt:lpstr>Task 2</vt:lpstr>
      <vt:lpstr>Task 2</vt:lpstr>
      <vt:lpstr>Task 2</vt:lpstr>
      <vt:lpstr>Task 2</vt:lpstr>
      <vt:lpstr>Task 2</vt:lpstr>
      <vt:lpstr>Task 2</vt:lpstr>
      <vt:lpstr>Team Member Assessment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313 Spring 2026 Project Task 0 &amp; 1</dc:title>
  <dc:creator>Shengkun Cui</dc:creator>
  <cp:lastModifiedBy>Vohra, Dhruv</cp:lastModifiedBy>
  <cp:revision>81</cp:revision>
  <dcterms:created xsi:type="dcterms:W3CDTF">2026-03-27T01:17:46Z</dcterms:created>
  <dcterms:modified xsi:type="dcterms:W3CDTF">2026-04-09T22:08:22Z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0x0101004385B58923830E49944D5B019BDEBC39</vt:lpwstr>
  </property>
</Properties>
</file>